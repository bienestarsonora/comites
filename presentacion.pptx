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61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75438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6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1116" dirty="0"/>
          </a:p>
        </p:txBody>
      </p:sp>
      <p:sp>
        <p:nvSpPr>
          <p:cNvPr id="6" name="Shape 4"/>
          <p:cNvSpPr/>
          <p:nvPr/>
        </p:nvSpPr>
        <p:spPr>
          <a:xfrm>
            <a:off x="649986" y="2153468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13816" y="2127123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 INSTITUCIONAL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spc="-300" dirty="0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Comités de </a:t>
            </a:r>
            <a:r>
              <a:rPr lang="en-US" sz="4200" b="1" spc="-300" dirty="0" err="1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Contraloría</a:t>
            </a:r>
            <a:r>
              <a:rPr lang="en-US" sz="4200" b="1" spc="-300" dirty="0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 y </a:t>
            </a:r>
            <a:r>
              <a:rPr lang="en-US" sz="4200" b="1" spc="-300" dirty="0" err="1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Participación</a:t>
            </a:r>
            <a:r>
              <a:rPr lang="en-US" sz="4200" b="1" spc="-300" dirty="0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 Social</a:t>
            </a:r>
            <a:endParaRPr lang="en-US" sz="4200" spc="-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687318"/>
            <a:ext cx="538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sistema público para visibilizar, organizar y fortalecer los mecanismos ciudadanos que vigilan, participan y transforman desde el territorio.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5257800"/>
            <a:ext cx="3246120" cy="512064"/>
          </a:xfrm>
          <a:prstGeom prst="roundRect">
            <a:avLst>
              <a:gd name="adj" fmla="val 32143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21537" y="53960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https://bienestarsonora.github.io/comites/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E192706-FBDC-EB10-34F1-361E491BC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6" y="507102"/>
            <a:ext cx="2056638" cy="912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RESUMEN EJECUTIVO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" y="10012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51642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</a:t>
            </a:r>
            <a:r>
              <a:rPr lang="en-US" sz="3400" b="1" dirty="0" err="1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</a:t>
            </a: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3400" b="1" dirty="0" err="1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convierte</a:t>
            </a: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3400" b="1" dirty="0" err="1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participación</a:t>
            </a: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ciudadana en información accionable.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04410" y="1417320"/>
            <a:ext cx="35683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 mapa territorial, directorio público, herramientas de aprendizaje, indicadores y panel institucional en un mismo ecosistema.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743200"/>
            <a:ext cx="2286000" cy="1078992"/>
          </a:xfrm>
          <a:prstGeom prst="roundRect">
            <a:avLst>
              <a:gd name="adj" fmla="val 8475"/>
            </a:avLst>
          </a:prstGeom>
          <a:solidFill>
            <a:srgbClr val="6F1238"/>
          </a:solidFill>
          <a:ln w="12700">
            <a:solidFill>
              <a:srgbClr val="6F12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5753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9C9D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registrados en la plataforma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2286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447288" y="29077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47288" y="336499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Mecanismos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288" y="35753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contraloría y participación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79008" y="2743200"/>
            <a:ext cx="2286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980176" y="29077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80176" y="336499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común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0176" y="35753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lectura territorial unificada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02752" y="2743200"/>
            <a:ext cx="2286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503920" y="29077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03920" y="336499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Módulos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35753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datos, directorio, cursos y panel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" y="4370832"/>
            <a:ext cx="1065276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960120" y="46177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2861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Lectura ejecutiva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0120" y="4764024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161C"/>
                </a:solidFill>
                <a:latin typeface="Aptos" panose="020B0004020202020204" pitchFamily="34" charset="0"/>
                <a:ea typeface="Manrope" pitchFamily="34" charset="-122"/>
                <a:cs typeface="Manrope" pitchFamily="34" charset="-120"/>
              </a:rPr>
              <a:t>La innovación no está solo en publicar datos: está en ordenar la participación social para que la ciudadanía, las áreas operativas y la toma de decisiones compartan una misma base de información.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 CIUDADANA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" y="10012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 CIUDADANA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Dos figuras, una sola visión de valor público.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0" y="1417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plataforma integra ambos tipos de comités sin mezclar funciones, territorios ni alcances.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5232" y="3703320"/>
            <a:ext cx="1645920" cy="0"/>
          </a:xfrm>
          <a:prstGeom prst="line">
            <a:avLst/>
          </a:prstGeom>
          <a:noFill/>
          <a:ln w="19050">
            <a:solidFill>
              <a:srgbClr val="EADFE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425196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1051560" y="2953512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F7E9EF"/>
          </a:solidFill>
          <a:ln w="12700">
            <a:solidFill>
              <a:srgbClr val="F7E9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197864" y="31272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74520" y="2907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Social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83664" y="340156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Ámbito estatal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78992" y="393192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225296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Vigilancia ciudadana de programas sociales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078992" y="429768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225296" y="4251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Transparencia y seguimiento institucional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1078992" y="466344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225296" y="4617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Acompañamiento en municipios de Sonora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178040" y="2670048"/>
            <a:ext cx="425196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452360" y="2953512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EEE6F0"/>
          </a:solidFill>
          <a:ln w="12700">
            <a:solidFill>
              <a:srgbClr val="EEE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598664" y="31272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3F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75320" y="2907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Participación Social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84464" y="340156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E3F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Hermosillo, Sonora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479792" y="393192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626096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Organización comunitaria en colonias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479792" y="429768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626096" y="4251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Participación vecinal y acuerdos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479792" y="466344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626096" y="4617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colaborativa con gobierno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056632" y="3227832"/>
            <a:ext cx="2066544" cy="960120"/>
          </a:xfrm>
          <a:prstGeom prst="roundRect">
            <a:avLst>
              <a:gd name="adj" fmla="val 17143"/>
            </a:avLst>
          </a:prstGeom>
          <a:solidFill>
            <a:srgbClr val="181116"/>
          </a:solidFill>
          <a:ln w="12700">
            <a:solidFill>
              <a:srgbClr val="1811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376672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Unificar sin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confundir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TERRITORIAL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13232" y="94183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9372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EXPERIENCIA PÚBLICA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Explorar, filtrar y consultar el territorio.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mapa concentra comités de Contraloría Social y Participación Social, con filtros por tipo, municipio, colonia y búsqueda por nombre.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0" y="1115568"/>
            <a:ext cx="566928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870448" y="1417320"/>
            <a:ext cx="1371600" cy="3794760"/>
          </a:xfrm>
          <a:prstGeom prst="roundRect">
            <a:avLst>
              <a:gd name="adj" fmla="val 8000"/>
            </a:avLst>
          </a:prstGeom>
          <a:solidFill>
            <a:srgbClr val="FBF8F5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080760" y="166420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Filtros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5740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762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181344" y="2148840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Tipo de comité</a:t>
            </a:r>
            <a:endParaRPr lang="en-US" sz="380" dirty="0"/>
          </a:p>
        </p:txBody>
      </p:sp>
      <p:sp>
        <p:nvSpPr>
          <p:cNvPr id="15" name="Shape 13"/>
          <p:cNvSpPr/>
          <p:nvPr/>
        </p:nvSpPr>
        <p:spPr>
          <a:xfrm>
            <a:off x="6080760" y="26700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762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81344" y="276148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Buscar comité</a:t>
            </a:r>
            <a:endParaRPr lang="en-US" sz="380" dirty="0"/>
          </a:p>
        </p:txBody>
      </p:sp>
      <p:sp>
        <p:nvSpPr>
          <p:cNvPr id="17" name="Shape 15"/>
          <p:cNvSpPr/>
          <p:nvPr/>
        </p:nvSpPr>
        <p:spPr>
          <a:xfrm>
            <a:off x="6080760" y="328269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762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81344" y="3374136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Municipio</a:t>
            </a:r>
            <a:endParaRPr lang="en-US" sz="380" dirty="0"/>
          </a:p>
        </p:txBody>
      </p:sp>
      <p:sp>
        <p:nvSpPr>
          <p:cNvPr id="19" name="Shape 17"/>
          <p:cNvSpPr/>
          <p:nvPr/>
        </p:nvSpPr>
        <p:spPr>
          <a:xfrm>
            <a:off x="6080760" y="3895344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762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181344" y="3986784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Colonia</a:t>
            </a:r>
            <a:endParaRPr lang="en-US" sz="380" dirty="0"/>
          </a:p>
        </p:txBody>
      </p:sp>
      <p:sp>
        <p:nvSpPr>
          <p:cNvPr id="21" name="Shape 19"/>
          <p:cNvSpPr/>
          <p:nvPr/>
        </p:nvSpPr>
        <p:spPr>
          <a:xfrm>
            <a:off x="7406640" y="141732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1E7EC"/>
          </a:solidFill>
          <a:ln w="12700">
            <a:solidFill>
              <a:srgbClr val="F1E7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818120" y="1920240"/>
            <a:ext cx="2651760" cy="0"/>
          </a:xfrm>
          <a:prstGeom prst="line">
            <a:avLst/>
          </a:prstGeom>
          <a:noFill/>
          <a:ln w="12700">
            <a:solidFill>
              <a:srgbClr val="D7C8D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635240" y="3063240"/>
            <a:ext cx="3063240" cy="0"/>
          </a:xfrm>
          <a:prstGeom prst="line">
            <a:avLst/>
          </a:prstGeom>
          <a:noFill/>
          <a:ln w="12700">
            <a:solidFill>
              <a:srgbClr val="D7C8D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7909560" y="4160520"/>
            <a:ext cx="2468880" cy="0"/>
          </a:xfrm>
          <a:prstGeom prst="line">
            <a:avLst/>
          </a:prstGeom>
          <a:noFill/>
          <a:ln w="12700">
            <a:solidFill>
              <a:srgbClr val="D7C8D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8028432" y="2157984"/>
            <a:ext cx="182880" cy="182880"/>
          </a:xfrm>
          <a:prstGeom prst="ellipse">
            <a:avLst/>
          </a:prstGeom>
          <a:solidFill>
            <a:srgbClr val="A728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887968" y="2615184"/>
            <a:ext cx="182880" cy="182880"/>
          </a:xfrm>
          <a:prstGeom prst="ellipse">
            <a:avLst/>
          </a:prstGeom>
          <a:solidFill>
            <a:srgbClr val="6E3F7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9802368" y="3127248"/>
            <a:ext cx="182880" cy="182880"/>
          </a:xfrm>
          <a:prstGeom prst="ellipse">
            <a:avLst/>
          </a:prstGeom>
          <a:solidFill>
            <a:srgbClr val="A728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8485632" y="3986784"/>
            <a:ext cx="182880" cy="182880"/>
          </a:xfrm>
          <a:prstGeom prst="ellipse">
            <a:avLst/>
          </a:prstGeom>
          <a:solidFill>
            <a:srgbClr val="6E3F7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10195560" y="4224528"/>
            <a:ext cx="182880" cy="182880"/>
          </a:xfrm>
          <a:prstGeom prst="ellipse">
            <a:avLst/>
          </a:prstGeom>
          <a:solidFill>
            <a:srgbClr val="A728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9189720" y="1920240"/>
            <a:ext cx="182880" cy="182880"/>
          </a:xfrm>
          <a:prstGeom prst="ellipse">
            <a:avLst/>
          </a:prstGeom>
          <a:solidFill>
            <a:srgbClr val="6E3F7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8915400" y="4443984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9171432" y="4590288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comités visibles</a:t>
            </a:r>
            <a:endParaRPr lang="en-US" sz="490" dirty="0"/>
          </a:p>
        </p:txBody>
      </p:sp>
      <p:sp>
        <p:nvSpPr>
          <p:cNvPr id="33" name="Shape 31"/>
          <p:cNvSpPr/>
          <p:nvPr/>
        </p:nvSpPr>
        <p:spPr>
          <a:xfrm>
            <a:off x="859536" y="3749040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1005840" y="3703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Lectura territorial por tipo de comité.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59536" y="4142232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1005840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pública de cada comité y su ubicación.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859536" y="4535424"/>
            <a:ext cx="73152" cy="73152"/>
          </a:xfrm>
          <a:prstGeom prst="ellipse">
            <a:avLst/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1005840" y="4489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Búsqueda ágil para ciudadanía y operación interna.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Y APRENDIZAJE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13232" y="94183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8B77F"/>
          </a:solidFill>
          <a:ln w="12700">
            <a:solidFill>
              <a:srgbClr val="E8B7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9372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FORTALECIMIENTO DE CAPACIDADES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Capacitar también es gobernar mejor.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49808" y="24231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plataforma no se limita al directorio: integra recursos prácticos para que los comités conozcan su función, documenten actividades y eleven la calidad de su participación.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080760" y="1143000"/>
            <a:ext cx="2331720" cy="1783080"/>
          </a:xfrm>
          <a:prstGeom prst="roundRect">
            <a:avLst>
              <a:gd name="adj" fmla="val 7179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309360" y="1389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2B33"/>
          </a:solidFill>
          <a:ln w="12700">
            <a:solidFill>
              <a:srgbClr val="3A2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57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1737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3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 INTRODUCTORIO</a:t>
            </a:r>
            <a:endParaRPr lang="en-US" sz="530" dirty="0"/>
          </a:p>
        </p:txBody>
      </p:sp>
      <p:sp>
        <p:nvSpPr>
          <p:cNvPr id="14" name="Text 12"/>
          <p:cNvSpPr/>
          <p:nvPr/>
        </p:nvSpPr>
        <p:spPr>
          <a:xfrm>
            <a:off x="630936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Contraloría Social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09360" y="249631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Propósito, atribuciones y herramientas para la vigilancia ciudadana.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8686800" y="1143000"/>
            <a:ext cx="2331720" cy="1783080"/>
          </a:xfrm>
          <a:prstGeom prst="roundRect">
            <a:avLst>
              <a:gd name="adj" fmla="val 7179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915400" y="1389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2B33"/>
          </a:solidFill>
          <a:ln w="12700">
            <a:solidFill>
              <a:srgbClr val="3A2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9006840" y="150876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8915400" y="1965960"/>
            <a:ext cx="1737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3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GUÍA COMUNITARIA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891540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Participación Social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915400" y="249631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Organización vecinal, acuerdos y colaboración comunitaria.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6080760" y="3264408"/>
            <a:ext cx="2331720" cy="1783080"/>
          </a:xfrm>
          <a:prstGeom prst="roundRect">
            <a:avLst>
              <a:gd name="adj" fmla="val 7179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309360" y="3511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2B33"/>
          </a:solidFill>
          <a:ln w="12700">
            <a:solidFill>
              <a:srgbClr val="3A2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00800" y="36301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570" dirty="0"/>
          </a:p>
        </p:txBody>
      </p:sp>
      <p:sp>
        <p:nvSpPr>
          <p:cNvPr id="25" name="Text 23"/>
          <p:cNvSpPr/>
          <p:nvPr/>
        </p:nvSpPr>
        <p:spPr>
          <a:xfrm>
            <a:off x="6309360" y="4087368"/>
            <a:ext cx="1737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3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PLANTILLAS</a:t>
            </a:r>
            <a:endParaRPr lang="en-US" sz="530" dirty="0"/>
          </a:p>
        </p:txBody>
      </p:sp>
      <p:sp>
        <p:nvSpPr>
          <p:cNvPr id="26" name="Text 24"/>
          <p:cNvSpPr/>
          <p:nvPr/>
        </p:nvSpPr>
        <p:spPr>
          <a:xfrm>
            <a:off x="630936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Formatos de seguimiento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309360" y="4617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Minutas, listas de asistencia, cédulas y reportes.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686800" y="3264408"/>
            <a:ext cx="2331720" cy="1783080"/>
          </a:xfrm>
          <a:prstGeom prst="roundRect">
            <a:avLst>
              <a:gd name="adj" fmla="val 7179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915400" y="3511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2B33"/>
          </a:solidFill>
          <a:ln w="12700">
            <a:solidFill>
              <a:srgbClr val="3A2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9006840" y="36301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8915400" y="4087368"/>
            <a:ext cx="1737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3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MARCO INSTITUCIONAL</a:t>
            </a:r>
            <a:endParaRPr lang="en-US" sz="530" dirty="0"/>
          </a:p>
        </p:txBody>
      </p:sp>
      <p:sp>
        <p:nvSpPr>
          <p:cNvPr id="32" name="Text 30"/>
          <p:cNvSpPr/>
          <p:nvPr/>
        </p:nvSpPr>
        <p:spPr>
          <a:xfrm>
            <a:off x="891540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Normatividad y criterios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8915400" y="46177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Documentos oficiales organizados de forma sencilla.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713232" y="4956048"/>
            <a:ext cx="4297680" cy="658368"/>
          </a:xfrm>
          <a:prstGeom prst="roundRect">
            <a:avLst>
              <a:gd name="adj" fmla="val 22222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960120" y="5193792"/>
            <a:ext cx="3767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esperado: comités con mejores herramientas para participar, vigilar y documentar.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F83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F83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OPERACIÓN INTERNA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" y="10012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OPERACIÓN INTERNA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 registro al seguimiento: </a:t>
            </a:r>
            <a:b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flujo institucional claro.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0" y="1417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panel permite ordenar información, documentos, capacitaciones y resultados para que la plataforma crezca con control.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58568" y="4050792"/>
            <a:ext cx="822960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251960" y="4050792"/>
            <a:ext cx="822960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45352" y="4050792"/>
            <a:ext cx="822960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238744" y="4050792"/>
            <a:ext cx="822960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13232" y="3264408"/>
            <a:ext cx="1536192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6EFE9"/>
          </a:solidFill>
          <a:ln w="12700">
            <a:solidFill>
              <a:srgbClr val="F6EF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024128" y="363016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3708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Conformación ciudadana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706624" y="3264408"/>
            <a:ext cx="1536192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907792" y="3520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6EFE9"/>
          </a:solidFill>
          <a:ln w="12700">
            <a:solidFill>
              <a:srgbClr val="F6EF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017520" y="363016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07792" y="40690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07792" y="43708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 y documentos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4700016" y="3264408"/>
            <a:ext cx="1536192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901184" y="3520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6EFE9"/>
          </a:solidFill>
          <a:ln w="12700">
            <a:solidFill>
              <a:srgbClr val="F6EF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10912" y="363016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901184" y="40690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Capacitación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01184" y="43708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prácticas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6693408" y="3264408"/>
            <a:ext cx="1536192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894576" y="3520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6EFE9"/>
          </a:solidFill>
          <a:ln w="12700">
            <a:solidFill>
              <a:srgbClr val="F6EF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7004304" y="363016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894576" y="40690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Participación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94576" y="43708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Vigilancia o colaboración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8686800" y="3264408"/>
            <a:ext cx="1536192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8887968" y="3520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6EFE9"/>
          </a:solidFill>
          <a:ln w="12700">
            <a:solidFill>
              <a:srgbClr val="F6EF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8997696" y="363016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F12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887968" y="40690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887968" y="43708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Seguimiento y mejora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8183880" y="2331720"/>
            <a:ext cx="2880360" cy="731520"/>
          </a:xfrm>
          <a:prstGeom prst="roundRect">
            <a:avLst>
              <a:gd name="adj" fmla="val 16250"/>
            </a:avLst>
          </a:prstGeom>
          <a:solidFill>
            <a:srgbClr val="6F1238"/>
          </a:solidFill>
          <a:ln w="12700">
            <a:solidFill>
              <a:srgbClr val="6F12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8476488" y="256946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Panel institucional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476488" y="278892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E7D5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Registro, documentos, capacitaciones e indicadores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IMPACTO EJECUTIVO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" y="10012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7286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IMPACTO EJECUTIVO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 público: una política de participación con evidencia.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0" y="1417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plataforma ayuda a que la participación social deje de verse como actividad aislada y se convierta en capacidad institucional.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10912" y="2606040"/>
            <a:ext cx="2057400" cy="2057400"/>
          </a:xfrm>
          <a:prstGeom prst="ellipse">
            <a:avLst/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13248" y="31821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público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3456432" y="3657600"/>
            <a:ext cx="1435608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150608" y="3657600"/>
            <a:ext cx="914400" cy="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998464" y="4663440"/>
            <a:ext cx="0" cy="411480"/>
          </a:xfrm>
          <a:prstGeom prst="line">
            <a:avLst/>
          </a:prstGeom>
          <a:noFill/>
          <a:ln w="16510">
            <a:solidFill>
              <a:srgbClr val="EADFE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914400" y="2834640"/>
            <a:ext cx="2971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115568" y="3063240"/>
            <a:ext cx="109728" cy="109728"/>
          </a:xfrm>
          <a:prstGeom prst="roundRect">
            <a:avLst>
              <a:gd name="adj" fmla="val 33333"/>
            </a:avLst>
          </a:prstGeom>
          <a:solidFill>
            <a:srgbClr val="A72861"/>
          </a:solidFill>
          <a:ln w="12700">
            <a:solidFill>
              <a:srgbClr val="A728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325880" y="3035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Transparencia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visibles, consultables y organizados para la ciudadanía.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8138160" y="2834640"/>
            <a:ext cx="2971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339328" y="3063240"/>
            <a:ext cx="109728" cy="109728"/>
          </a:xfrm>
          <a:prstGeom prst="roundRect">
            <a:avLst>
              <a:gd name="adj" fmla="val 33333"/>
            </a:avLst>
          </a:prstGeom>
          <a:solidFill>
            <a:srgbClr val="6E3F72"/>
          </a:solidFill>
          <a:ln w="12700">
            <a:solidFill>
              <a:srgbClr val="6E3F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549640" y="3035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Territorio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549640" y="3337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común para identificar cobertura, vacíos y prioridades.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3840480" y="5074920"/>
            <a:ext cx="2971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ADF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041648" y="5303520"/>
            <a:ext cx="109728" cy="109728"/>
          </a:xfrm>
          <a:prstGeom prst="roundRect">
            <a:avLst>
              <a:gd name="adj" fmla="val 33333"/>
            </a:avLst>
          </a:prstGeom>
          <a:solidFill>
            <a:srgbClr val="55213F"/>
          </a:solidFill>
          <a:ln w="12700">
            <a:solidFill>
              <a:srgbClr val="5521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251960" y="52760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Capacidades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251960" y="5577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para formar, documentar y acompañar a los comités.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F63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</a:t>
            </a:r>
            <a:endParaRPr lang="en-US" sz="828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16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Comités de Contraloría y Participación Social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95360" y="438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RUTA DE CONSOLIDACIÓN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13232" y="94183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8B77F"/>
          </a:solidFill>
          <a:ln w="12700">
            <a:solidFill>
              <a:srgbClr val="E8B7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9372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SIGUIENTES PASOS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5897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plataforma visible a sistema institucional robusto.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etapa siguiente debe cerrar tres frentes: datos confiables, operación segura y uso permanente para la toma de decisiones.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243584"/>
            <a:ext cx="4434840" cy="749808"/>
          </a:xfrm>
          <a:prstGeom prst="roundRect">
            <a:avLst>
              <a:gd name="adj" fmla="val 14634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995160" y="149961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7479792" y="141732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de datos y seguridad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79792" y="168249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Conectar</a:t>
            </a:r>
            <a:r>
              <a:rPr lang="en-US" sz="9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la base de </a:t>
            </a:r>
            <a:r>
              <a:rPr lang="en-US" sz="900" dirty="0" err="1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</a:t>
            </a:r>
            <a:r>
              <a:rPr lang="en-US" sz="9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 roles, autenticación y reglas de acceso.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295144"/>
            <a:ext cx="4434840" cy="749808"/>
          </a:xfrm>
          <a:prstGeom prst="roundRect">
            <a:avLst>
              <a:gd name="adj" fmla="val 14634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995160" y="255117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7479792" y="246888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maestra del comité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79792" y="27340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Estandarizar datos mínimos, documentos, integrantes y evidencia.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3346704"/>
            <a:ext cx="4434840" cy="749808"/>
          </a:xfrm>
          <a:prstGeom prst="roundRect">
            <a:avLst>
              <a:gd name="adj" fmla="val 14634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995160" y="360273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7479792" y="35204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Actualización</a:t>
            </a: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constante</a:t>
            </a: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</a:t>
            </a:r>
            <a:r>
              <a:rPr lang="en-US" sz="1100" b="1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permanente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79792" y="378561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Definir responsables, calendario de carga y validación institucional.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20840" y="4398264"/>
            <a:ext cx="4434840" cy="749808"/>
          </a:xfrm>
          <a:prstGeom prst="roundRect">
            <a:avLst>
              <a:gd name="adj" fmla="val 14634"/>
            </a:avLst>
          </a:prstGeom>
          <a:solidFill>
            <a:srgbClr val="2B2026"/>
          </a:solidFill>
          <a:ln w="12700">
            <a:solidFill>
              <a:srgbClr val="43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995160" y="465429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E8B7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7479792" y="45720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Capacitación continua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483717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8BEC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Activar recursos, constancias y seguimiento de participación.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4873752"/>
            <a:ext cx="4754880" cy="868680"/>
          </a:xfrm>
          <a:prstGeom prst="roundRect">
            <a:avLst>
              <a:gd name="adj" fmla="val 18947"/>
            </a:avLst>
          </a:prstGeom>
          <a:solidFill>
            <a:srgbClr val="6F1238"/>
          </a:solidFill>
          <a:ln w="12700">
            <a:solidFill>
              <a:srgbClr val="6F1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400"/>
          </a:p>
        </p:txBody>
      </p:sp>
      <p:sp>
        <p:nvSpPr>
          <p:cNvPr id="27" name="Text 25"/>
          <p:cNvSpPr/>
          <p:nvPr/>
        </p:nvSpPr>
        <p:spPr>
          <a:xfrm>
            <a:off x="969264" y="512064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C5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Decisión requerida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9264" y="535838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Formalizar la plataforma como instrumento de seguimiento, transparencia proactiva y fortalecimiento de comités.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F83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Secretaría de Bienestar del Estado de Sonora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137392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F83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764</Words>
  <Application>Microsoft Office PowerPoint</Application>
  <PresentationFormat>Panorámica</PresentationFormat>
  <Paragraphs>164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Manrope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Secretaría de Bienestar del Estado de Sonora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Comités de Contraloría y Participación Social</dc:title>
  <dc:subject>Presentación ejecutiva Plataforma de Comités</dc:subject>
  <dc:creator>Mtro. Arnoldo Acuña - Director de Estrategias de Participación Social</dc:creator>
  <cp:lastModifiedBy>Ramón Arnoldo Acuña del Castillo</cp:lastModifiedBy>
  <cp:revision>7</cp:revision>
  <dcterms:created xsi:type="dcterms:W3CDTF">2026-08-17T20:00:06Z</dcterms:created>
  <dcterms:modified xsi:type="dcterms:W3CDTF">2026-08-17T20:14:13Z</dcterms:modified>
</cp:coreProperties>
</file>